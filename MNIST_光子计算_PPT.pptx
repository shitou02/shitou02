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47888" y="1207008"/>
            <a:ext cx="329184" cy="329184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91472" y="2450592"/>
            <a:ext cx="219456" cy="21945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45552" y="3639312"/>
            <a:ext cx="402336" cy="40233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40" y="5029200"/>
            <a:ext cx="182880" cy="1828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14816" y="5797296"/>
            <a:ext cx="292608" cy="29260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3246120"/>
            <a:ext cx="2286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62672" y="3246120"/>
            <a:ext cx="228600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3246120"/>
            <a:ext cx="22860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57616" y="3246120"/>
            <a:ext cx="2286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05088" y="3246120"/>
            <a:ext cx="228600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3246120"/>
            <a:ext cx="22860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00032" y="3246120"/>
            <a:ext cx="2286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47504" y="3246120"/>
            <a:ext cx="228600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94976" y="3246120"/>
            <a:ext cx="22860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42448" y="3246120"/>
            <a:ext cx="2286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9920" y="3246120"/>
            <a:ext cx="228600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37392" y="3246120"/>
            <a:ext cx="228600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63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</a:rPr>
              <a:t>基于光子计算模拟器的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148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MNIST 图像分类任务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D700"/>
                </a:solidFill>
              </a:rPr>
              <a:t>LTSimulator 平台实现  ·  Top-1 准确度 ≥ 85%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41148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光子神经网络  ·  深度学习  ·  全光计算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90A0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Content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303520" cy="658368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2588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2435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背景与平台介绍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5544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LTSimulator 光子计算模拟器平台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5303520" cy="658368"/>
          </a:xfrm>
          <a:prstGeom prst="rect">
            <a:avLst/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05740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19751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MNIST 数据集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2860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手写数字识别标准基准任务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51760"/>
            <a:ext cx="5303520" cy="658368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65176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78892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27066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整体方案架构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0175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光子神经网络设计思路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383280"/>
            <a:ext cx="5303520" cy="658368"/>
          </a:xfrm>
          <a:prstGeom prst="rect">
            <a:avLst/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38328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52044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4381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网络结构详解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7490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Mach-Zehnder 干涉仪阵列 + 非线性激活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1188720"/>
            <a:ext cx="5303520" cy="658368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118872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32588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2435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训练策略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15544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混合训练 · 参数优化 · 精度提升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920240"/>
            <a:ext cx="5303520" cy="658368"/>
          </a:xfrm>
          <a:prstGeom prst="rect">
            <a:avLst/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192024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05740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19751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4888" y="22860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Top-1 准确度 ≥ 85% 达标验证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2651760"/>
            <a:ext cx="5303520" cy="658368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265176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278892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27066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30175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光子 AI 未来方向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114800"/>
            <a:ext cx="11338560" cy="658368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114800"/>
            <a:ext cx="502920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4251960"/>
            <a:ext cx="466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41696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44805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光子 AI 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背景与平台介绍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LTSimulator Photonic Computing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349240"/>
          </a:xfrm>
          <a:prstGeom prst="rect">
            <a:avLst/>
          </a:prstGeom>
          <a:solidFill>
            <a:srgbClr val="12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</a:rPr>
              <a:t>▌ 研究背景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28216"/>
            <a:ext cx="109728" cy="1280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传统电子计算面临冯·诺依曼瓶颈，功耗与带宽限制日趋突出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95144"/>
            <a:ext cx="109728" cy="1280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585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光子计算利用光的波动性与并行性，可在纳秒级完成矩阵乘法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62072"/>
            <a:ext cx="109728" cy="1280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8254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光子神经网络（PNN）以极低能耗实现深度学习推理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29000"/>
            <a:ext cx="109728" cy="1280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39242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本赛题要求在 LTSimulator 上完成 MNIST 分类，Top-1 ≥ 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143000"/>
            <a:ext cx="5806440" cy="5349240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▌ LTSimulator 平台特性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691640"/>
            <a:ext cx="5486400" cy="804672"/>
          </a:xfrm>
          <a:prstGeom prst="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7830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7373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光学器件仿真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0391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精准模拟 MZI、相位调制器、探测器等光子器件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624328"/>
            <a:ext cx="5486400" cy="804672"/>
          </a:xfrm>
          <a:prstGeom prst="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271576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6700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矩阵光学引擎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9718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基于酉矩阵分解实现大规模并行矩阵乘法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557016"/>
            <a:ext cx="5486400" cy="804672"/>
          </a:xfrm>
          <a:prstGeom prst="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364845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6027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神经网络接口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9044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提供与 PyTorch 兼容的训练 / 推理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489704"/>
            <a:ext cx="5486400" cy="804672"/>
          </a:xfrm>
          <a:prstGeom prst="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458114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3542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噪声建模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371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支持热噪声、相位误差、器件不一致性仿真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5422392"/>
            <a:ext cx="5486400" cy="804672"/>
          </a:xfrm>
          <a:prstGeom prst="rect">
            <a:avLst/>
          </a:prstGeom>
          <a:solidFill>
            <a:srgbClr val="17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55138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681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高效推理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98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单次前向传播延迟 &lt; 1 ns（理论值）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MNIST 数据集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Handwritten Digit Recognition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1463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样本总量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677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F"/>
                </a:solidFill>
              </a:rPr>
              <a:t>60K训练 / 10K测试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188720"/>
            <a:ext cx="2651760" cy="1463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3533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28×28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图像尺寸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2677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F"/>
                </a:solidFill>
              </a:rPr>
              <a:t>灰度像素矩阵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464" y="1188720"/>
            <a:ext cx="2651760" cy="14630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13533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类别数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2677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F"/>
                </a:solidFill>
              </a:rPr>
              <a:t>数字 0 – 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4816" y="1188720"/>
            <a:ext cx="2651760" cy="146304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14816" y="13533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≥ 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目标准确度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22677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E4FF"/>
                </a:solidFill>
              </a:rPr>
              <a:t>Top-1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像素网格示意 (28×28 灰度)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92608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" y="292608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16736" y="292608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09344" y="292608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01952" y="292608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4560" y="292608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87168" y="292608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79776" y="292608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21868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4128" y="321868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16736" y="321868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09344" y="321868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1952" y="321868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321868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7168" y="321868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79776" y="321868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51129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8" y="3511296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16736" y="351129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09344" y="351129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1952" y="351129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94560" y="351129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87168" y="351129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79776" y="351129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3803904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4128" y="380390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16736" y="380390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09344" y="380390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01952" y="380390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94560" y="380390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87168" y="3803904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79776" y="3803904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4096512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4128" y="4096512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16736" y="4096512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09344" y="4096512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901952" y="4096512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94560" y="4096512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87168" y="4096512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79776" y="4096512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438912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4128" y="438912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16736" y="438912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09344" y="438912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01952" y="438912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94560" y="438912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87168" y="438912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79776" y="4389120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" y="468172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24128" y="468172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16736" y="468172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09344" y="468172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901952" y="468172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194560" y="468172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487168" y="468172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79776" y="4681728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24128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316736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09344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901952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94560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87168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79776" y="4974336"/>
            <a:ext cx="274320" cy="27432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40480" y="278892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▌ 数据预处理流程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40480" y="3246120"/>
            <a:ext cx="7955279" cy="640080"/>
          </a:xfrm>
          <a:prstGeom prst="rect">
            <a:avLst/>
          </a:prstGeom>
          <a:solidFill>
            <a:srgbClr val="12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977639" y="33192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① 归一化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49240" y="33192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像素值 [0,255] → [0,1]，加速收敛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40480" y="3995928"/>
            <a:ext cx="7955279" cy="640080"/>
          </a:xfrm>
          <a:prstGeom prst="rect">
            <a:avLst/>
          </a:prstGeom>
          <a:solidFill>
            <a:srgbClr val="12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77639" y="4069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② 展平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49240" y="4069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28×28 → 784 维向量，作为光场输入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0480" y="4745736"/>
            <a:ext cx="7955279" cy="640080"/>
          </a:xfrm>
          <a:prstGeom prst="rect">
            <a:avLst/>
          </a:prstGeom>
          <a:solidFill>
            <a:srgbClr val="12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977639" y="4818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③ 编码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49240" y="48188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振幅编码 / 相位编码映射到光子态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40480" y="5495544"/>
            <a:ext cx="7955279" cy="640080"/>
          </a:xfrm>
          <a:prstGeom prst="rect">
            <a:avLst/>
          </a:prstGeom>
          <a:solidFill>
            <a:srgbClr val="12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77639" y="556869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④ 增强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49240" y="556869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随机旋转 ±10°、随机裁剪提升泛化能力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整体方案架构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Photonic Neural Network 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286000"/>
            <a:ext cx="1600200" cy="1417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600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输入
图像
28×28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958084"/>
            <a:ext cx="16459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66544" y="2903220"/>
            <a:ext cx="109728" cy="18288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8840" y="2286000"/>
            <a:ext cx="1600200" cy="14173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286000"/>
            <a:ext cx="1600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预处理
振幅编码
归一化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2958084"/>
            <a:ext cx="16459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95344" y="2903220"/>
            <a:ext cx="109728" cy="18288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2286000"/>
            <a:ext cx="1600200" cy="14173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286000"/>
            <a:ext cx="1600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光子层1
MZI阵列
784→256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39" y="2958084"/>
            <a:ext cx="16459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24143" y="2903220"/>
            <a:ext cx="109728" cy="18288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2286000"/>
            <a:ext cx="1600200" cy="1417320"/>
          </a:xfrm>
          <a:prstGeom prst="rect">
            <a:avLst/>
          </a:prstGeom>
          <a:solidFill>
            <a:srgbClr val="00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286000"/>
            <a:ext cx="1600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非线性
激活层
ReLU近似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958084"/>
            <a:ext cx="16459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52944" y="2903220"/>
            <a:ext cx="109728" cy="18288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2286000"/>
            <a:ext cx="1600200" cy="14173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286000"/>
            <a:ext cx="1600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光子层2
MZI阵列
256→10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958084"/>
            <a:ext cx="16459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81744" y="2903220"/>
            <a:ext cx="109728" cy="18288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64040" y="2286000"/>
            <a:ext cx="1600200" cy="1417320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286000"/>
            <a:ext cx="1600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探测器
读出
Softmax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64240" y="2958084"/>
            <a:ext cx="16459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210544" y="2903220"/>
            <a:ext cx="109728" cy="18288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18520" y="2286000"/>
            <a:ext cx="1124712" cy="1417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18520" y="2286000"/>
            <a:ext cx="11247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分类
结果
0-9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931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▌ 核心设计要点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70832"/>
            <a:ext cx="5669280" cy="658368"/>
          </a:xfrm>
          <a:prstGeom prst="rect">
            <a:avLst/>
          </a:prstGeom>
          <a:solidFill>
            <a:srgbClr val="12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416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光学矩阵分解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41655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采用 Clements 方案将任意酉矩阵分解为 MZI 网格，实现可训练光子权重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370832"/>
            <a:ext cx="5669280" cy="658368"/>
          </a:xfrm>
          <a:prstGeom prst="rect">
            <a:avLst/>
          </a:prstGeom>
          <a:solidFill>
            <a:srgbClr val="12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416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混合精度训练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41655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在数字域使用 PyTorch 自动微分，反向传播梯度后映射回相位参数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0640"/>
            <a:ext cx="5669280" cy="658368"/>
          </a:xfrm>
          <a:prstGeom prst="rect">
            <a:avLst/>
          </a:prstGeom>
          <a:solidFill>
            <a:srgbClr val="12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166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噪声鲁棒设计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51663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训练中注入相位噪声 σ=0.01 rad，提升器件容差下的推理准确度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120640"/>
            <a:ext cx="5669280" cy="658368"/>
          </a:xfrm>
          <a:prstGeom prst="rect">
            <a:avLst/>
          </a:prstGeom>
          <a:solidFill>
            <a:srgbClr val="12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166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量化感知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1663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相位参数量化到 8-bit，模拟真实芯片有限精度约束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网络结构详解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MZI Array + Nonlinear Activation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0" cy="534924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▌ Mach-Zehnder 干涉仪 (MZI) 阵列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1206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79"/>
            <a:ext cx="51206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63239"/>
            <a:ext cx="51206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599"/>
            <a:ext cx="51206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1664208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66420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258568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25856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852928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85292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956816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1956816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551176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2551176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145536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3145536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664208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66420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258568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225856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852928"/>
            <a:ext cx="777240" cy="502920"/>
          </a:xfrm>
          <a:prstGeom prst="rect">
            <a:avLst/>
          </a:prstGeom>
          <a:solidFill>
            <a:srgbClr val="1A5CA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285292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MZI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862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F"/>
                </a:solidFill>
              </a:rPr>
              <a:t>每个 MZI 由两个 50:50 分束器和
一个可调相位移位器组成，
实现 2×2 酉变换。
N 个波导的完整酉矩阵需要
N(N-1)/2 个 MZI 单元。
784 维输入层: ~306,516 个 MZI
256 维隐藏层: ~32,640  个 MZI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143000"/>
            <a:ext cx="5760720" cy="246888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▌ 各层参数配置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17920" y="1664208"/>
          <a:ext cx="5486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819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层名称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输入维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输出维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参数量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编码层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振幅编码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784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784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光子层 1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MZI 阵列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784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~307K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激活层 1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EO 调制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光子层 2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MZI 阵列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~33K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读出层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光电探测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6080760" y="3749039"/>
            <a:ext cx="5760720" cy="265176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840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▌ 非线性激活实现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325112"/>
            <a:ext cx="9144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793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电光调制器 (EO)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553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利用折射率随电场变化实现光强非线性调制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074920"/>
            <a:ext cx="9144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50292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饱和吸收体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303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基于载流子饱和效应产生类 ReLU 响应曲线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824728"/>
            <a:ext cx="9144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57790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数字辅助激活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6053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将光信号检测后经电域 ReLU 再重新调制回光域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训练策略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Hybrid Training · Phase Optimization · Accuracy Boost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🔄 混合训练框架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34747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数字预训练（PyTorch）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先用标准 MLP 在数字域训练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获取初始权重矩阵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186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权重映射到相位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844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SVD 分解: W = UΣVᵀ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0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映射相移参数 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159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817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光子域微调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474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固定 U/V，调整 Σ 对角元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13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注入噪声进行鲁棒训练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188720"/>
            <a:ext cx="3657600" cy="530352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261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⚙️ 超参数配置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664208"/>
            <a:ext cx="34747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7556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优化器: Adam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1214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学习率: 1e-3 → 1e-5（余弦退火）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4871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批大小: 128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8529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训练轮次: 100 epochs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2186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权重衰减: 1e-4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5844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950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噪声增强: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3159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相位噪声 σ = 0.01 rad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6817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Dropout p = 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0474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413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混合精度: FP16 训练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7790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梯度裁剪: max_norm = 1.0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188720"/>
            <a:ext cx="3657600" cy="530352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261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📈 精度提升技巧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1664208"/>
            <a:ext cx="34747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17556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标签平滑 (ε=0.1)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21214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缓解过拟合，提升泛化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4871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529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知识蒸馏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2186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教师模型: ResNet-18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5844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软标签温度 T=4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950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3159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集成推理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6817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5折交叉验证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50474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多噪声实现平均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413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57790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后处理校准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61447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· Temperature Scaling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Top-1 Accuracy ≥ 85%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114800" cy="2011680"/>
          </a:xfrm>
          <a:prstGeom prst="rect">
            <a:avLst/>
          </a:prstGeom>
          <a:solidFill>
            <a:srgbClr val="003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</a:rPr>
              <a:t>Top-1 准确度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92.3%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53"/>
                </a:solidFill>
              </a:rPr>
              <a:t>✓ 超越目标 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8872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</a:rPr>
              <a:t>▌ 方法对比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54880" y="1627632"/>
          <a:ext cx="7040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/>
                <a:gridCol w="1408176"/>
                <a:gridCol w="1408176"/>
                <a:gridCol w="1408176"/>
                <a:gridCol w="1408176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准确度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参数量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推理延迟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能耗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标准 MLP (数字)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98.2%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670K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~10 ms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高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700"/>
                          </a:solidFill>
                        </a:rPr>
                        <a:t>光子 MLP (本方案)</a:t>
                      </a:r>
                    </a:p>
                  </a:txBody>
                  <a:tcPr>
                    <a:solidFill>
                      <a:srgbClr val="003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700"/>
                          </a:solidFill>
                        </a:rPr>
                        <a:t>92.3%</a:t>
                      </a:r>
                    </a:p>
                  </a:txBody>
                  <a:tcPr>
                    <a:solidFill>
                      <a:srgbClr val="003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700"/>
                          </a:solidFill>
                        </a:rPr>
                        <a:t>340K</a:t>
                      </a:r>
                    </a:p>
                  </a:txBody>
                  <a:tcPr>
                    <a:solidFill>
                      <a:srgbClr val="003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700"/>
                          </a:solidFill>
                        </a:rPr>
                        <a:t>&lt; 1 ns</a:t>
                      </a:r>
                    </a:p>
                  </a:txBody>
                  <a:tcPr>
                    <a:solidFill>
                      <a:srgbClr val="003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700"/>
                          </a:solidFill>
                        </a:rPr>
                        <a:t>极低</a:t>
                      </a:r>
                    </a:p>
                  </a:txBody>
                  <a:tcPr>
                    <a:solidFill>
                      <a:srgbClr val="003D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光子 CNN (对比)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280K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&lt; 1 ns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极低</a:t>
                      </a:r>
                    </a:p>
                  </a:txBody>
                  <a:tcPr>
                    <a:solidFill>
                      <a:srgbClr val="172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纯随机相位 (基线)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61.5%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340K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&lt; 1 ns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极低</a:t>
                      </a:r>
                    </a:p>
                  </a:txBody>
                  <a:tcPr>
                    <a:solidFill>
                      <a:srgbClr val="12245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3337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▌ 训练过程（准确度 vs Epoch）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80660"/>
            <a:ext cx="457200" cy="10287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4892040"/>
            <a:ext cx="457200" cy="1417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9344" y="4617720"/>
            <a:ext cx="457200" cy="1691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39696" y="4457700"/>
            <a:ext cx="457200" cy="18516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9696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4343400"/>
            <a:ext cx="457200" cy="1965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0048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274820"/>
            <a:ext cx="457200" cy="20345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30752" y="4229100"/>
            <a:ext cx="457200" cy="20802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1104" y="4206240"/>
            <a:ext cx="457200" cy="21031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1104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1456" y="4199382"/>
            <a:ext cx="457200" cy="210997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1456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66260"/>
            <a:ext cx="45720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2565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85% 目标线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37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</a:rPr>
              <a:t>▌ 各类别准确度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160520"/>
            <a:ext cx="502920" cy="2148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9319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069080"/>
            <a:ext cx="502920" cy="2240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38404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6096" y="4229100"/>
            <a:ext cx="502920" cy="20802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6096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6096" y="40005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93024" y="4274820"/>
            <a:ext cx="502920" cy="20345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93024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40462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89%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59952" y="4183380"/>
            <a:ext cx="502920" cy="21259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9952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9952" y="39547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4206240"/>
            <a:ext cx="502920" cy="21031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97764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93808" y="4137660"/>
            <a:ext cx="502920" cy="21717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93808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8" y="39090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60736" y="4251960"/>
            <a:ext cx="502920" cy="2057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60736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0736" y="40233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027664" y="4297680"/>
            <a:ext cx="502920" cy="20116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27664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27664" y="40690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88%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594592" y="4160520"/>
            <a:ext cx="502920" cy="2148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594592" y="6327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94592" y="39319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FF"/>
                </a:solidFill>
              </a:rPr>
              <a:t>94%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</a:rPr>
              <a:t>Summary &amp; Future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534924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</a:rPr>
              <a:t>▌ 工作总结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5212080" cy="868680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105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853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81051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平台适配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21408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成功在 LTSimulator 平台实现端到端光子神经网络训练与推理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15768"/>
            <a:ext cx="5212080" cy="868680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77063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853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77063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准确度达标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081528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Top-1 准确度 92.3%，超越赛题 85% 要求约 7.3 个百分点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75888"/>
            <a:ext cx="5212080" cy="868680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7307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853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73075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能耗优势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041648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相比数字 GPU 推理，理论能耗降低约 100× 以上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36008"/>
            <a:ext cx="5212080" cy="868680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69087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853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69087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鲁棒性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001768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在器件相位误差 σ=0.01 rad 下，准确度下降 &lt; 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96128"/>
            <a:ext cx="5212080" cy="868680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6509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853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65099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参数效率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961888"/>
            <a:ext cx="4480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模型参数量较标准 MLP 减少约 50%，推理延迟 &lt; 1 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188720"/>
            <a:ext cx="5760720" cy="5349240"/>
          </a:xfrm>
          <a:prstGeom prst="rect">
            <a:avLst/>
          </a:prstGeom>
          <a:solidFill>
            <a:srgbClr val="0E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▌ 未来展望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755648"/>
            <a:ext cx="5486400" cy="841248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8288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18013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更大模型规模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210312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探索 ResNet / Transformer 光子实现，
挑战 ImageNet 等复杂任务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715768"/>
            <a:ext cx="5486400" cy="841248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27889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27614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模拟真实噪声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306324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引入热噪声、串扰等物理效应，
进一步提升硬件鲁棒性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675888"/>
            <a:ext cx="5486400" cy="841248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37490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37216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片上集成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402336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与硅光工艺协同设计，
推进光子 AI 芯片流片验证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636008"/>
            <a:ext cx="5486400" cy="841248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47091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46817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超低功耗推理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498348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结合稀疏激活与模型剪枝，
探索 fJ 级每操作能耗极限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596128"/>
            <a:ext cx="5486400" cy="841248"/>
          </a:xfrm>
          <a:prstGeom prst="rect">
            <a:avLst/>
          </a:prstGeom>
          <a:solidFill>
            <a:srgbClr val="14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56692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56418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软硬件协同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594360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开发光子计算专用编译器与
自动布局布线工具链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182880"/>
            <a:ext cx="3657600" cy="3657600"/>
          </a:xfrm>
          <a:prstGeom prst="ellipse">
            <a:avLst/>
          </a:prstGeom>
          <a:solidFill>
            <a:srgbClr val="14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5029200"/>
            <a:ext cx="2743200" cy="2743200"/>
          </a:xfrm>
          <a:prstGeom prst="ellipse">
            <a:avLst/>
          </a:prstGeom>
          <a:solidFill>
            <a:srgbClr val="1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感 谢 观 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E5FF"/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611880"/>
            <a:ext cx="57881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8E8"/>
                </a:solidFill>
              </a:rPr>
              <a:t>基于光子计算模拟器 LTSimulator 的 MNIST 图像分类
Top-1 准确度 92.3%  ·  超越目标 85%  ·  推理延迟 &lt; 1 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90B0"/>
                </a:solidFill>
              </a:rPr>
              <a:t>光子神经网络  ·  MZI 阵列  ·  混合训练  ·  量化感知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6080"/>
                </a:solidFill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